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【講師開場】歡迎大家來到《誰是文化王》。今天每一組將化身跨國整合專案組，面對 4 場海外真實衝突，在四象限地圖上盲測落點，角逐全場文化王！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向學員強調：X 軸是『權力與距離』，Y 軸是『速度與共識』。跨國管理最大的盲點就是誤以為平等一定共識、階層一定獨裁。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引導學員注意這張圖的四個角落，接下來的 4 個實戰案例分別座落在這 4 個象限中。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請各組隊長在紙上寫下他們決定的 (X, Y) 座標並高舉亮出！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【引導提示】為什麼技術主管會上不反對會後不動？為什麼技術主管要嚴懲越級寫信的年輕工程師？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【計分引導】靶心座標為 (78, 82)。請計算距離 d = √[(X-78)² + (Y-82)²]，得分為 100 - 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【引導提示】為什麼領班說『沒明確裁示沒人敢動手』？危機時刻要求共識會引發什麼反效果？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【計分引導】靶心座標為 (84, 18)。交期只剩 4 小時的危機中，尋求共識會被視為卸責。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【引導提示】年輕人敢當面挑戰主管反映極低權力距離；先上線有問題再修補反映小 d 速決思維。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【計分引導】靶心座標為 (22, 24)。引導學員理解敏捷文化中的小速決思維。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【引導提示】為什麼技術長不能強推？面對高平等高共識文化，威權與商業收買完全無效。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【計分引導】靶心座標為 (18, 85)。至此四回合已全部揭曉，請各組加總四輪總積分！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這張圖是整個工作坊最核心的知識圖譜，建議請學員拍照或存檔。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跨國管理最大的災難是用同一個詞彙卻懷抱完全不同的心理預期。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管理自己是基礎，管理網絡是槓桿，打造團隊是成果。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請講師統計各組總分，邀請冠軍組別起立接受全場鼓掌，頒發象徵性的文化王榮譽！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822960"/>
            <a:ext cx="10728655" cy="5212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280160"/>
            <a:ext cx="2377440" cy="3657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工作坊備用簡報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9601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誰是文化王</a:t>
            </a:r>
          </a:p>
          <a:p>
            <a:pPr>
              <a:defRPr sz="2200">
                <a:solidFill>
                  <a:srgbClr val="D97706"/>
                </a:solidFill>
              </a:defRPr>
            </a:pPr>
            <a:r>
              <a:t>跨文化團隊決策與說服競技場 · 實體互動備案簡報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47472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0F2FE"/>
                </a:solidFill>
              </a:defRPr>
            </a:pPr>
            <a:r>
              <a:t>誰是文化王 · 跨文化決策與說服競技場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結合四格漫畫實境、四象限落點盲測、歐幾里得距離計分法與經典案例深度覆盤。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5120640"/>
            <a:ext cx="2240280" cy="411480"/>
          </a:xfrm>
          <a:prstGeom prst="roundRect">
            <a:avLst/>
          </a:prstGeom>
          <a:solidFill>
            <a:srgbClr val="334155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📍 2×2 決策象限盲測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5120640"/>
            <a:ext cx="2240280" cy="411480"/>
          </a:xfrm>
          <a:prstGeom prst="roundRect">
            <a:avLst/>
          </a:prstGeom>
          <a:solidFill>
            <a:srgbClr val="334155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🎯 歐幾里得距離精準計分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5120640"/>
            <a:ext cx="2240280" cy="411480"/>
          </a:xfrm>
          <a:prstGeom prst="roundRect">
            <a:avLst/>
          </a:prstGeom>
          <a:solidFill>
            <a:srgbClr val="334155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👑 跨立場說服王機制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5120640"/>
            <a:ext cx="2240280" cy="411480"/>
          </a:xfrm>
          <a:prstGeom prst="roundRect">
            <a:avLst/>
          </a:prstGeom>
          <a:solidFill>
            <a:srgbClr val="334155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📚 哈佛商業評論 組織領導矩陣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理論基礎：決策維度解析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理論基石：跨文化決策的兩大核心維度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6636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800" b="1">
                <a:solidFill>
                  <a:srgbClr val="0284C7"/>
                </a:solidFill>
              </a:defRPr>
            </a:pPr>
            <a:r>
              <a:t>橫軸（X 軸）：權力距離維度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平等主義 (0) ↔ 階層制 (100)</a:t>
            </a:r>
            <a:br/>
          </a:p>
          <a:p>
            <a:pPr>
              <a:defRPr b="1" sz="1300">
                <a:solidFill>
                  <a:srgbClr val="1E293B"/>
                </a:solidFill>
              </a:defRPr>
            </a:pPr>
            <a:r>
              <a:t>• 平等主義（0 ~ 35）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組織結構極度扁平，員工習慣直呼主管名字。基層被賦予高度話語權，跨級直接溝通被視為高效與坦率，主管扮演「平等促進者」。</a:t>
            </a:r>
            <a:br/>
          </a:p>
          <a:p>
            <a:pPr>
              <a:defRPr b="1" sz="1300">
                <a:solidFill>
                  <a:srgbClr val="1E293B"/>
                </a:solidFill>
              </a:defRPr>
            </a:pPr>
            <a:r>
              <a:t>• 階層制（65 ~ 100）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重視組織序列與職級尊卑。溝通與決策嚴格遵循層級鏈條，越級報告被視為挑釁與失序。基層敬畏權威，主管具備明確指導權與最終責任。</a:t>
            </a:r>
            <a:br/>
          </a:p>
        </p:txBody>
      </p:sp>
      <p:sp>
        <p:nvSpPr>
          <p:cNvPr id="6" name="Rounded Rectangle 5"/>
          <p:cNvSpPr/>
          <p:nvPr/>
        </p:nvSpPr>
        <p:spPr>
          <a:xfrm>
            <a:off x="6291072" y="1371600"/>
            <a:ext cx="516636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800" b="1">
                <a:solidFill>
                  <a:srgbClr val="D97706"/>
                </a:solidFill>
              </a:defRPr>
            </a:pPr>
            <a:r>
              <a:t>縱軸（Y 軸）：決策方式維度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由上而下速決 (0) ↔ 全員共識決策 (100)</a:t>
            </a:r>
            <a:br/>
          </a:p>
          <a:p>
            <a:pPr>
              <a:defRPr b="1" sz="1300">
                <a:solidFill>
                  <a:srgbClr val="1E293B"/>
                </a:solidFill>
              </a:defRPr>
            </a:pPr>
            <a:r>
              <a:t>• 由上而下速決（0 ~ 35）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決策講求速度與效率。主管聽取意見後迅速拍板（小速決模式）。決策被視為「動態里程碑」，隨時可依新數據敏捷微調。</a:t>
            </a:r>
            <a:br/>
          </a:p>
          <a:p>
            <a:pPr>
              <a:defRPr b="1" sz="1300">
                <a:solidFill>
                  <a:srgbClr val="1E293B"/>
                </a:solidFill>
              </a:defRPr>
            </a:pPr>
            <a:r>
              <a:t>• 全員共識決策（65 ~ 100）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追求全員一致同意與深度承諾（大承諾模式）。前期花費大量時間會前溝通摸底，一旦拍板如石碑不可輕易翻案。</a:t>
            </a:r>
            <a:br/>
          </a:p>
        </p:txBody>
      </p:sp>
      <p:sp>
        <p:nvSpPr>
          <p:cNvPr id="7" name="Rounded Rectangle 6"/>
          <p:cNvSpPr/>
          <p:nvPr/>
        </p:nvSpPr>
        <p:spPr>
          <a:xfrm>
            <a:off x="731520" y="5532120"/>
            <a:ext cx="10728655" cy="8229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62356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EF3C7"/>
                </a:solidFill>
              </a:defRPr>
            </a:pPr>
            <a:r>
              <a:t>💡 跨文化領導的核心啟示：沒有放之四海皆準的領導風格。卓越管理者從不強求團隊改變團隊文化底蘊，而是精準調整自己的決策座標！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四象限決策矩陣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2×2 決策矩陣：全球四大文化原型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19456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第二象限（左上）</a:t>
            </a:r>
          </a:p>
          <a:p>
            <a:pPr algn="ctr">
              <a:defRPr sz="900">
                <a:solidFill>
                  <a:srgbClr val="475569"/>
                </a:solidFill>
              </a:defRPr>
            </a:pPr>
            <a:r>
              <a:t>共識決策 × 平等主義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554480"/>
            <a:ext cx="219456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第一象限（右上）</a:t>
            </a:r>
          </a:p>
          <a:p>
            <a:pPr algn="ctr">
              <a:defRPr sz="900">
                <a:solidFill>
                  <a:srgbClr val="475569"/>
                </a:solidFill>
              </a:defRPr>
            </a:pPr>
            <a:r>
              <a:t>共識決策 × 階層制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40"/>
            <a:ext cx="219456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第三象限（左下）</a:t>
            </a:r>
          </a:p>
          <a:p>
            <a:pPr algn="ctr">
              <a:defRPr sz="900">
                <a:solidFill>
                  <a:srgbClr val="475569"/>
                </a:solidFill>
              </a:defRPr>
            </a:pPr>
            <a:r>
              <a:t>由上而下 × 平等主義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3749040"/>
            <a:ext cx="219456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第四象限（右下）</a:t>
            </a:r>
          </a:p>
          <a:p>
            <a:pPr algn="ctr">
              <a:defRPr sz="900">
                <a:solidFill>
                  <a:srgbClr val="475569"/>
                </a:solidFill>
              </a:defRPr>
            </a:pPr>
            <a:r>
              <a:t>由上而下 × 階層制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417320"/>
            <a:ext cx="5486400" cy="1078992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第一象限（右上）：共識型決策 × 階層制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【日本、韓國】嚴明職級尊重與全員共識並存。正式會議僅為形式用印，真正的決策必須在會前依職級序列由下而上完成「會前私下摸底（根回）」。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2606040"/>
            <a:ext cx="5486400" cy="1078992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第二象限（左上）：共識型決策 × 平等主義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【荷蘭、北歐各國】基層與主管平起平坐，人人皆有一票否決權。領導者為「促進者」，追求刻在石碑上的神聖大承諾（大承諾）。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3794760"/>
            <a:ext cx="5486400" cy="1078992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第三象限（左下）：由上而下速決 × 平等主義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【美國矽谷、英國新創】扁平極客文化，鼓勵直抒己見甚至挑戰主管；但決策採「小速決」模式，先試跑、後續動態修補。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4983480"/>
            <a:ext cx="5486400" cy="1078992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第四象限（右下）：由上而下速決 × 階層制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【中國量產基地、法國、印度】強調最高主管威權指揮（最高指揮官模式）。危機時刻基層渴望明確指令，領導者必須一肩扛起成敗責任。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規則與計分法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實體備案遊戲規則與歐幾里得距離計分法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64992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600" b="1">
                <a:solidFill>
                  <a:srgbClr val="0284C7"/>
                </a:solidFill>
              </a:defRPr>
            </a:pPr>
            <a:r>
              <a:t>階段一 · 盲測落點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⏱️ 研討限時 3 分鐘</a:t>
            </a:r>
            <a:br/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閱讀現場對白與漫畫情境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小組研討 3 分鐘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在象限圖上標出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本組決策座標 (X, Y)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(0~100 數值)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7" y="1371600"/>
            <a:ext cx="3364992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600" b="1">
                <a:solidFill>
                  <a:srgbClr val="D97706"/>
                </a:solidFill>
              </a:defRPr>
            </a:pPr>
            <a:r>
              <a:t>階段二 · 說服辯論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⚖️ 說服點數分配</a:t>
            </a:r>
            <a:br/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各組輪流派出代表發言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可運用 3 點說服點數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投票給最有說服力的組別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👑 當選「說服王」的組別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若初選踩雷全班承受懲罰！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83296" y="1371600"/>
            <a:ext cx="3364992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600" b="1">
                <a:solidFill>
                  <a:srgbClr val="059669"/>
                </a:solidFill>
              </a:defRPr>
            </a:pPr>
            <a:r>
              <a:t>階段三 · 揭曉計分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🎯 歐幾里得距離結算</a:t>
            </a:r>
            <a:br/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講師公布真實靶心座標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計算本組與靶心的誤差距離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離靶心越近得分越高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四輪累計文化總積分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加冕全場「文化王」！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26280"/>
            <a:ext cx="10728655" cy="18288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600" b="1">
                <a:solidFill>
                  <a:srgbClr val="D97706"/>
                </a:solidFill>
              </a:defRPr>
            </a:pPr>
            <a:r>
              <a:t>📐 歐幾里得距離計分機制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誤差距離 ＝ 根號底下兩軸座標差平方和   ｜   本輪得分 ＝ 100 扣除誤差距離（最低 0 分）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🎯 完美命中（d ≤ 15 格）：精準切中該文化核心！得分 85 ~ 100 分</a:t>
            </a:r>
            <a:br/>
            <a:r>
              <a:t>• 🟢 精準落點（15 &lt; d ≤ 30 格）：落入正確象限核心區！得分 70 ~ 85 分</a:t>
            </a:r>
            <a:br/>
            <a:r>
              <a:t>• 🟡 方向尚可（30 &lt; d ≤ 50 格）：掌握大方向但力道有偏差，得分 50 ~ 70 分</a:t>
            </a:r>
            <a:br/>
            <a:r>
              <a:t>• 🔴 嚴重偏離（d &gt; 50 格）：落入完全相反象限，引發跨文化衝突危機！得分低於 50 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第一回合 · 情境挑戰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案例一 · 沉默的正式會議與消失的測試數據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" y="1179576"/>
            <a:ext cx="5138928" cy="5138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ase1_alp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5029200" cy="5029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89320" y="1234440"/>
            <a:ext cx="5468112" cy="3886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/>
          <a:lstStyle/>
          <a:p>
            <a:pPr algn="ctr">
              <a:defRPr sz="1300" b="1">
                <a:solidFill>
                  <a:srgbClr val="0284C7"/>
                </a:solidFill>
              </a:defRPr>
            </a:pPr>
            <a:r>
              <a:t>📍 海外併購 · 精密研發中心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</a:defRPr>
            </a:pPr>
            <a:r>
              <a:t>【週一全體大會】</a:t>
            </a:r>
          </a:p>
          <a:p>
            <a:pPr>
              <a:lnSpc>
                <a:spcPct val="125000"/>
              </a:lnSpc>
              <a:defRPr sz="1050">
                <a:solidFill>
                  <a:srgbClr val="475569"/>
                </a:solidFill>
              </a:defRPr>
            </a:pPr>
            <a:r>
              <a:t>你：「提議縮短高溫測試工時兩成，大家有無異議？」全場低頭抄筆記，一片沉默……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</a:defRPr>
            </a:pPr>
            <a:r>
              <a:t>【技術主管態度】</a:t>
            </a:r>
          </a:p>
          <a:p>
            <a:pPr>
              <a:lnSpc>
                <a:spcPct val="125000"/>
              </a:lnSpc>
              <a:defRPr sz="1050">
                <a:solidFill>
                  <a:srgbClr val="475569"/>
                </a:solidFill>
              </a:defRPr>
            </a:pPr>
            <a:r>
              <a:t>技術主管微笑：「我們會盡力研究。」你心想：太好了，大家都同意！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</a:defRPr>
            </a:pPr>
            <a:r>
              <a:t>【週三產線現場】</a:t>
            </a:r>
          </a:p>
          <a:p>
            <a:pPr>
              <a:lnSpc>
                <a:spcPct val="125000"/>
              </a:lnSpc>
              <a:defRPr sz="1050">
                <a:solidFill>
                  <a:srgbClr val="475569"/>
                </a:solidFill>
              </a:defRPr>
            </a:pPr>
            <a:r>
              <a:t>來到產線，測試爐工時仍為百分之百，產線完全沒動！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</a:defRPr>
            </a:pPr>
            <a:r>
              <a:t>【茶水間外衝突】</a:t>
            </a:r>
          </a:p>
          <a:p>
            <a:pPr>
              <a:lnSpc>
                <a:spcPct val="125000"/>
              </a:lnSpc>
              <a:defRPr sz="1050">
                <a:solidFill>
                  <a:srgbClr val="475569"/>
                </a:solidFill>
              </a:defRPr>
            </a:pPr>
            <a:r>
              <a:t>技術主管嚴厲斥責昨晚寫私信給你的年輕人：「不懂規矩！破壞團隊程序！」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5257800"/>
            <a:ext cx="5468112" cy="10058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/>
          <a:lstStyle/>
          <a:p>
            <a:pPr algn="ctr">
              <a:defRPr sz="1200" b="1">
                <a:solidFill>
                  <a:srgbClr val="FEF3C7"/>
                </a:solidFill>
              </a:defRPr>
            </a:pPr>
            <a:r>
              <a:t>⏱️ 決策課題：面對表面和諧、實則嚴守階層與私下共識的團隊，你的領導決策座標在哪裡？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第一回合 · 答案揭曉與文獻深度解析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案例一 答案揭曉 · 第一象限（右上：橫軸 78，縱軸 82）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4114800" cy="51206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20040"/>
          <a:lstStyle/>
          <a:p>
            <a:pPr algn="ctr">
              <a:defRPr sz="1500" b="1">
                <a:solidFill>
                  <a:srgbClr val="BFDBFE"/>
                </a:solidFill>
              </a:defRPr>
            </a:pPr>
            <a:r>
              <a:t>正確答案（右上）</a:t>
            </a:r>
          </a:p>
          <a:p>
            <a:pPr algn="ctr">
              <a:defRPr sz="3600" b="1">
                <a:solidFill>
                  <a:srgbClr val="FFFFFF"/>
                </a:solidFill>
              </a:defRPr>
            </a:pPr>
            <a:r>
              <a:t>第一象限</a:t>
            </a:r>
          </a:p>
          <a:p>
            <a:pPr algn="ctr">
              <a:defRPr sz="1600" b="1">
                <a:solidFill>
                  <a:srgbClr val="FEF3C7"/>
                </a:solidFill>
              </a:defRPr>
            </a:pPr>
            <a:r>
              <a:t>階層制 × 共識型決策</a:t>
            </a:r>
          </a:p>
          <a:p>
            <a:pPr algn="ctr"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🎯 靶心座標：(78, 82)</a:t>
            </a:r>
          </a:p>
          <a:p>
            <a:pPr algn="ctr">
              <a:spcBef>
                <a:spcPts val="800"/>
              </a:spcBef>
              <a:defRPr sz="1500" b="1">
                <a:solidFill>
                  <a:srgbClr val="FACC15"/>
                </a:solidFill>
              </a:defRPr>
            </a:pPr>
            <a:r>
              <a:t>選對組別 + 100 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4114800"/>
            <a:ext cx="105156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第二象限（左上）</a:t>
            </a:r>
          </a:p>
          <a:p>
            <a:pPr algn="ctr">
              <a:defRPr sz="900">
                <a:solidFill>
                  <a:srgbClr val="475569"/>
                </a:solidFill>
              </a:defRPr>
            </a:pPr>
            <a:r>
              <a:t>共識決策 × 平等主義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7480" y="4114800"/>
            <a:ext cx="1051560" cy="10515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第一象限（右上）</a:t>
            </a:r>
          </a:p>
          <a:p>
            <a:pPr algn="ctr">
              <a:defRPr sz="900">
                <a:solidFill>
                  <a:srgbClr val="475569"/>
                </a:solidFill>
              </a:defRPr>
            </a:pPr>
            <a:r>
              <a:t>共識決策 × 階層制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0" y="5166360"/>
            <a:ext cx="105156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第三象限（左下）</a:t>
            </a:r>
          </a:p>
          <a:p>
            <a:pPr algn="ctr">
              <a:defRPr sz="900">
                <a:solidFill>
                  <a:srgbClr val="475569"/>
                </a:solidFill>
              </a:defRPr>
            </a:pPr>
            <a:r>
              <a:t>由上而下 × 平等主義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5166360"/>
            <a:ext cx="105156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第四象限（右下）</a:t>
            </a:r>
          </a:p>
          <a:p>
            <a:pPr algn="ctr">
              <a:defRPr sz="900">
                <a:solidFill>
                  <a:srgbClr val="475569"/>
                </a:solidFill>
              </a:defRPr>
            </a:pPr>
            <a:r>
              <a:t>由上而下 × 階層制</a:t>
            </a:r>
          </a:p>
        </p:txBody>
      </p:sp>
      <p:sp>
        <p:nvSpPr>
          <p:cNvPr id="10" name="Oval 9"/>
          <p:cNvSpPr/>
          <p:nvPr/>
        </p:nvSpPr>
        <p:spPr>
          <a:xfrm>
            <a:off x="3176625" y="4383633"/>
            <a:ext cx="219456" cy="219456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0" y="1234440"/>
            <a:ext cx="643097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411480"/>
          <a:lstStyle/>
          <a:p>
            <a:pPr algn="ctr">
              <a:defRPr sz="1900" b="1">
                <a:solidFill>
                  <a:srgbClr val="1E293B"/>
                </a:solidFill>
              </a:defRPr>
            </a:pPr>
            <a:r>
              <a:t>文獻理論依據與決策盲點解析</a:t>
            </a:r>
          </a:p>
          <a:p>
            <a:pPr>
              <a:spcBef>
                <a:spcPts val="1800"/>
              </a:spcBef>
              <a:defRPr sz="1600" b="1">
                <a:solidFill>
                  <a:srgbClr val="1E293B"/>
                </a:solidFill>
              </a:defRPr>
            </a:pPr>
            <a:r>
              <a:t>文化特徵：</a:t>
            </a:r>
          </a:p>
          <a:p>
            <a:pPr>
              <a:lnSpc>
                <a:spcPct val="135000"/>
              </a:lnSpc>
              <a:defRPr sz="1300">
                <a:solidFill>
                  <a:srgbClr val="475569"/>
                </a:solidFill>
              </a:defRPr>
            </a:pPr>
            <a:r>
              <a:t>日本根回與稟議模式，兼具嚴明的職級尊卑與全員深度共識。</a:t>
            </a:r>
          </a:p>
          <a:p>
            <a:pPr>
              <a:spcBef>
                <a:spcPts val="1800"/>
              </a:spcBef>
              <a:defRPr sz="1600" b="1">
                <a:solidFill>
                  <a:srgbClr val="1E293B"/>
                </a:solidFill>
              </a:defRPr>
            </a:pPr>
            <a:r>
              <a:t>管理盲點：</a:t>
            </a:r>
          </a:p>
          <a:p>
            <a:pPr>
              <a:lnSpc>
                <a:spcPct val="135000"/>
              </a:lnSpc>
              <a:defRPr sz="1300">
                <a:solidFill>
                  <a:srgbClr val="475569"/>
                </a:solidFill>
              </a:defRPr>
            </a:pPr>
            <a:r>
              <a:t>誤以為大會能直接討論拍板；在該文化中大會僅為用印儀式，未經會前私下摸底（根回）強推必遭消極抗命。</a:t>
            </a:r>
          </a:p>
          <a:p>
            <a:pPr>
              <a:spcBef>
                <a:spcPts val="1800"/>
              </a:spcBef>
              <a:defRPr sz="1600" b="1">
                <a:solidFill>
                  <a:srgbClr val="1E293B"/>
                </a:solidFill>
              </a:defRPr>
            </a:pPr>
            <a:r>
              <a:t>正確對策：</a:t>
            </a:r>
          </a:p>
          <a:p>
            <a:pPr>
              <a:lnSpc>
                <a:spcPct val="135000"/>
              </a:lnSpc>
              <a:defRPr sz="1300">
                <a:solidFill>
                  <a:srgbClr val="475569"/>
                </a:solidFill>
              </a:defRPr>
            </a:pPr>
            <a:r>
              <a:t>尊重既有職級序列，會前透過資深幹部由下而上私下溝通、全員完成會簽後再開會確認。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第二回合 · 情境挑戰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案例二 · 良率暴跌夜的群組風暴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" y="1179576"/>
            <a:ext cx="5138928" cy="5138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ase2_b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5029200" cy="5029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89320" y="1234440"/>
            <a:ext cx="5468112" cy="3886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/>
          <a:lstStyle/>
          <a:p>
            <a:pPr algn="ctr">
              <a:defRPr sz="1300" b="1">
                <a:solidFill>
                  <a:srgbClr val="0284C7"/>
                </a:solidFill>
              </a:defRPr>
            </a:pPr>
            <a:r>
              <a:t>📍 海外量產 · 核心試產基地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</a:defRPr>
            </a:pPr>
            <a:r>
              <a:t>【夜班 02:10】</a:t>
            </a:r>
          </a:p>
          <a:p>
            <a:pPr>
              <a:lnSpc>
                <a:spcPct val="125000"/>
              </a:lnSpc>
              <a:defRPr sz="1050">
                <a:solidFill>
                  <a:srgbClr val="475569"/>
                </a:solidFill>
              </a:defRPr>
            </a:pPr>
            <a:r>
              <a:t>塗佈機良率暴跌至 48%！產線領班大驚失色。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</a:defRPr>
            </a:pPr>
            <a:r>
              <a:t>【現場下令】</a:t>
            </a:r>
          </a:p>
          <a:p>
            <a:pPr>
              <a:lnSpc>
                <a:spcPct val="125000"/>
              </a:lnSpc>
              <a:defRPr sz="1050">
                <a:solidFill>
                  <a:srgbClr val="475569"/>
                </a:solidFill>
              </a:defRPr>
            </a:pPr>
            <a:r>
              <a:t>資深廠長：「立刻停線，把機台洗乾淨！」機台強制按下停機。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</a:defRPr>
            </a:pPr>
            <a:r>
              <a:t>【群組爭吵】</a:t>
            </a:r>
          </a:p>
          <a:p>
            <a:pPr>
              <a:lnSpc>
                <a:spcPct val="125000"/>
              </a:lnSpc>
              <a:defRPr sz="1050">
                <a:solidFill>
                  <a:srgbClr val="475569"/>
                </a:solidFill>
              </a:defRPr>
            </a:pPr>
            <a:r>
              <a:t>試產組工程師在群組內激烈甩鍋：「是塗佈液的問題！」「延誤你們扛！」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</a:defRPr>
            </a:pPr>
            <a:r>
              <a:t>【領班求救】</a:t>
            </a:r>
          </a:p>
          <a:p>
            <a:pPr>
              <a:lnSpc>
                <a:spcPct val="125000"/>
              </a:lnSpc>
              <a:defRPr sz="1050">
                <a:solidFill>
                  <a:srgbClr val="475569"/>
                </a:solidFill>
              </a:defRPr>
            </a:pPr>
            <a:r>
              <a:t>領班私訊：「現在到底該聽誰的？請給我們明確裁示，否則沒人敢動手！」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5257800"/>
            <a:ext cx="5468112" cy="10058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/>
          <a:lstStyle/>
          <a:p>
            <a:pPr algn="ctr">
              <a:defRPr sz="1200" b="1">
                <a:solidFill>
                  <a:srgbClr val="FEF3C7"/>
                </a:solidFill>
              </a:defRPr>
            </a:pPr>
            <a:r>
              <a:t>⏱️ 決策課題：距離交貨剩 4 小時，團隊恐懼承擔責任，你的領導決策座標應落在哪裡？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第二回合 · 答案揭曉與文獻深度解析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案例二 答案揭曉 · 第四象限（右下：橫軸 84，縱軸 18）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4114800" cy="51206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20040"/>
          <a:lstStyle/>
          <a:p>
            <a:pPr algn="ctr">
              <a:defRPr sz="1500" b="1">
                <a:solidFill>
                  <a:srgbClr val="BFDBFE"/>
                </a:solidFill>
              </a:defRPr>
            </a:pPr>
            <a:r>
              <a:t>正確答案（右下）</a:t>
            </a:r>
          </a:p>
          <a:p>
            <a:pPr algn="ctr">
              <a:defRPr sz="3600" b="1">
                <a:solidFill>
                  <a:srgbClr val="FFFFFF"/>
                </a:solidFill>
              </a:defRPr>
            </a:pPr>
            <a:r>
              <a:t>第四象限</a:t>
            </a:r>
          </a:p>
          <a:p>
            <a:pPr algn="ctr">
              <a:defRPr sz="1600" b="1">
                <a:solidFill>
                  <a:srgbClr val="FEF3C7"/>
                </a:solidFill>
              </a:defRPr>
            </a:pPr>
            <a:r>
              <a:t>階層制 × 由上而下速決</a:t>
            </a:r>
          </a:p>
          <a:p>
            <a:pPr algn="ctr"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🎯 靶心座標：(84, 18)</a:t>
            </a:r>
          </a:p>
          <a:p>
            <a:pPr algn="ctr">
              <a:spcBef>
                <a:spcPts val="800"/>
              </a:spcBef>
              <a:defRPr sz="1500" b="1">
                <a:solidFill>
                  <a:srgbClr val="FACC15"/>
                </a:solidFill>
              </a:defRPr>
            </a:pPr>
            <a:r>
              <a:t>選對組別 + 100 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4114800"/>
            <a:ext cx="105156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第二象限（左上）</a:t>
            </a:r>
          </a:p>
          <a:p>
            <a:pPr algn="ctr">
              <a:defRPr sz="900">
                <a:solidFill>
                  <a:srgbClr val="475569"/>
                </a:solidFill>
              </a:defRPr>
            </a:pPr>
            <a:r>
              <a:t>共識決策 × 平等主義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7480" y="4114800"/>
            <a:ext cx="105156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第一象限（右上）</a:t>
            </a:r>
          </a:p>
          <a:p>
            <a:pPr algn="ctr">
              <a:defRPr sz="900">
                <a:solidFill>
                  <a:srgbClr val="475569"/>
                </a:solidFill>
              </a:defRPr>
            </a:pPr>
            <a:r>
              <a:t>共識決策 × 階層制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0" y="5166360"/>
            <a:ext cx="105156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第三象限（左下）</a:t>
            </a:r>
          </a:p>
          <a:p>
            <a:pPr algn="ctr">
              <a:defRPr sz="900">
                <a:solidFill>
                  <a:srgbClr val="475569"/>
                </a:solidFill>
              </a:defRPr>
            </a:pPr>
            <a:r>
              <a:t>由上而下 × 平等主義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5166360"/>
            <a:ext cx="1051560" cy="10515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第四象限（右下）</a:t>
            </a:r>
          </a:p>
          <a:p>
            <a:pPr algn="ctr">
              <a:defRPr sz="900">
                <a:solidFill>
                  <a:srgbClr val="475569"/>
                </a:solidFill>
              </a:defRPr>
            </a:pPr>
            <a:r>
              <a:t>由上而下 × 階層制</a:t>
            </a:r>
          </a:p>
        </p:txBody>
      </p:sp>
      <p:sp>
        <p:nvSpPr>
          <p:cNvPr id="10" name="Oval 9"/>
          <p:cNvSpPr/>
          <p:nvPr/>
        </p:nvSpPr>
        <p:spPr>
          <a:xfrm>
            <a:off x="3302812" y="5729630"/>
            <a:ext cx="219456" cy="219456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0" y="1234440"/>
            <a:ext cx="643097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411480"/>
          <a:lstStyle/>
          <a:p>
            <a:pPr algn="ctr">
              <a:defRPr sz="1900" b="1">
                <a:solidFill>
                  <a:srgbClr val="1E293B"/>
                </a:solidFill>
              </a:defRPr>
            </a:pPr>
            <a:r>
              <a:t>文獻理論依據與決策盲點解析</a:t>
            </a:r>
          </a:p>
          <a:p>
            <a:pPr>
              <a:spcBef>
                <a:spcPts val="1800"/>
              </a:spcBef>
              <a:defRPr sz="1600" b="1">
                <a:solidFill>
                  <a:srgbClr val="1E293B"/>
                </a:solidFill>
              </a:defRPr>
            </a:pPr>
            <a:r>
              <a:t>文化特徵：</a:t>
            </a:r>
          </a:p>
          <a:p>
            <a:pPr>
              <a:lnSpc>
                <a:spcPct val="135000"/>
              </a:lnSpc>
              <a:defRPr sz="1300">
                <a:solidFill>
                  <a:srgbClr val="475569"/>
                </a:solidFill>
              </a:defRPr>
            </a:pPr>
            <a:r>
              <a:t>導演式指揮模式，高度重視階級秩序，危機時刻基層仰賴最高主管明確指令。</a:t>
            </a:r>
          </a:p>
          <a:p>
            <a:pPr>
              <a:spcBef>
                <a:spcPts val="1800"/>
              </a:spcBef>
              <a:defRPr sz="1600" b="1">
                <a:solidFill>
                  <a:srgbClr val="1E293B"/>
                </a:solidFill>
              </a:defRPr>
            </a:pPr>
            <a:r>
              <a:t>管理盲點：</a:t>
            </a:r>
          </a:p>
          <a:p>
            <a:pPr>
              <a:lnSpc>
                <a:spcPct val="135000"/>
              </a:lnSpc>
              <a:defRPr sz="1300">
                <a:solidFill>
                  <a:srgbClr val="475569"/>
                </a:solidFill>
              </a:defRPr>
            </a:pPr>
            <a:r>
              <a:t>在危機時刻若尋求民主討論凝聚共識，會被基層視為軟弱、無能且推卸責任。</a:t>
            </a:r>
          </a:p>
          <a:p>
            <a:pPr>
              <a:spcBef>
                <a:spcPts val="1800"/>
              </a:spcBef>
              <a:defRPr sz="1600" b="1">
                <a:solidFill>
                  <a:srgbClr val="1E293B"/>
                </a:solidFill>
              </a:defRPr>
            </a:pPr>
            <a:r>
              <a:t>正確對策：</a:t>
            </a:r>
          </a:p>
          <a:p>
            <a:pPr>
              <a:lnSpc>
                <a:spcPct val="135000"/>
              </a:lnSpc>
              <a:defRPr sz="1300">
                <a:solidFill>
                  <a:srgbClr val="475569"/>
                </a:solidFill>
              </a:defRPr>
            </a:pPr>
            <a:r>
              <a:t>主管迅速聽取關鍵資訊後果斷拍板，下達清晰執行步驟，並由最高主管親自扛起成敗責任。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第三回合 · 情境挑戰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案例三 · 被工程師直接推翻的封版時程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" y="1179576"/>
            <a:ext cx="5138928" cy="5138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ase3_gam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5029200" cy="5029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89320" y="1234440"/>
            <a:ext cx="5468112" cy="3886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/>
          <a:lstStyle/>
          <a:p>
            <a:pPr algn="ctr">
              <a:defRPr sz="1300" b="1">
                <a:solidFill>
                  <a:srgbClr val="0284C7"/>
                </a:solidFill>
              </a:defRPr>
            </a:pPr>
            <a:r>
              <a:t>📍 新創研發 · 高速運算實驗室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</a:defRPr>
            </a:pPr>
            <a:r>
              <a:t>【封版倒數 36h】</a:t>
            </a:r>
          </a:p>
          <a:p>
            <a:pPr>
              <a:lnSpc>
                <a:spcPct val="125000"/>
              </a:lnSpc>
              <a:defRPr sz="1050">
                <a:solidFill>
                  <a:srgbClr val="475569"/>
                </a:solidFill>
              </a:defRPr>
            </a:pPr>
            <a:r>
              <a:t>站立會議上，年輕核心工程師直接對你嗆聲：「你昨天定的架構太保守了！」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</a:defRPr>
            </a:pPr>
            <a:r>
              <a:t>【激進提案】</a:t>
            </a:r>
          </a:p>
          <a:p>
            <a:pPr>
              <a:lnSpc>
                <a:spcPct val="125000"/>
              </a:lnSpc>
              <a:defRPr sz="1050">
                <a:solidFill>
                  <a:srgbClr val="475569"/>
                </a:solidFill>
              </a:defRPr>
            </a:pPr>
            <a:r>
              <a:t>他拿出私下寫的新演算法原型：「效能提升兩倍！現在就推上線，有問題明天再線上修補！」（邊界條件一成五未測）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</a:defRPr>
            </a:pPr>
            <a:r>
              <a:t>【全員起鬨】</a:t>
            </a:r>
          </a:p>
          <a:p>
            <a:pPr>
              <a:lnSpc>
                <a:spcPct val="125000"/>
              </a:lnSpc>
              <a:defRPr sz="1050">
                <a:solidFill>
                  <a:srgbClr val="475569"/>
                </a:solidFill>
              </a:defRPr>
            </a:pPr>
            <a:r>
              <a:t>團隊成員紛紛附和：「值得賭一把！」「先上了再說！」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</a:defRPr>
            </a:pPr>
            <a:r>
              <a:t>【品保沉默】</a:t>
            </a:r>
          </a:p>
          <a:p>
            <a:pPr>
              <a:lnSpc>
                <a:spcPct val="125000"/>
              </a:lnSpc>
              <a:defRPr sz="1050">
                <a:solidFill>
                  <a:srgbClr val="475569"/>
                </a:solidFill>
              </a:defRPr>
            </a:pPr>
            <a:r>
              <a:t>品保主管面色凝重，沉默看向你等待定奪……倒數只剩 35:58:40！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5257800"/>
            <a:ext cx="5468112" cy="10058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/>
          <a:lstStyle/>
          <a:p>
            <a:pPr algn="ctr">
              <a:defRPr sz="1200" b="1">
                <a:solidFill>
                  <a:srgbClr val="FEF3C7"/>
                </a:solidFill>
              </a:defRPr>
            </a:pPr>
            <a:r>
              <a:t>⏱️ 決策課題：面對扁平直接、崇尚速度勝於完美的團隊，你的決策座標落點在哪裡？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第三回合 · 答案揭曉與文獻深度解析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案例三 答案揭曉 · 第三象限（左下：橫軸 22，縱軸 24）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4114800" cy="51206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20040"/>
          <a:lstStyle/>
          <a:p>
            <a:pPr algn="ctr">
              <a:defRPr sz="1500" b="1">
                <a:solidFill>
                  <a:srgbClr val="BFDBFE"/>
                </a:solidFill>
              </a:defRPr>
            </a:pPr>
            <a:r>
              <a:t>正確答案（左下）</a:t>
            </a:r>
          </a:p>
          <a:p>
            <a:pPr algn="ctr">
              <a:defRPr sz="3600" b="1">
                <a:solidFill>
                  <a:srgbClr val="FFFFFF"/>
                </a:solidFill>
              </a:defRPr>
            </a:pPr>
            <a:r>
              <a:t>第三象限</a:t>
            </a:r>
          </a:p>
          <a:p>
            <a:pPr algn="ctr">
              <a:defRPr sz="1600" b="1">
                <a:solidFill>
                  <a:srgbClr val="FEF3C7"/>
                </a:solidFill>
              </a:defRPr>
            </a:pPr>
            <a:r>
              <a:t>平等主義 × 由上而下速決</a:t>
            </a:r>
          </a:p>
          <a:p>
            <a:pPr algn="ctr"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🎯 靶心座標：(22, 24)</a:t>
            </a:r>
          </a:p>
          <a:p>
            <a:pPr algn="ctr">
              <a:spcBef>
                <a:spcPts val="800"/>
              </a:spcBef>
              <a:defRPr sz="1500" b="1">
                <a:solidFill>
                  <a:srgbClr val="FACC15"/>
                </a:solidFill>
              </a:defRPr>
            </a:pPr>
            <a:r>
              <a:t>選對組別 + 100 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4114800"/>
            <a:ext cx="105156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第二象限（左上）</a:t>
            </a:r>
          </a:p>
          <a:p>
            <a:pPr algn="ctr">
              <a:defRPr sz="900">
                <a:solidFill>
                  <a:srgbClr val="475569"/>
                </a:solidFill>
              </a:defRPr>
            </a:pPr>
            <a:r>
              <a:t>共識決策 × 平等主義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7480" y="4114800"/>
            <a:ext cx="105156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第一象限（右上）</a:t>
            </a:r>
          </a:p>
          <a:p>
            <a:pPr algn="ctr">
              <a:defRPr sz="900">
                <a:solidFill>
                  <a:srgbClr val="475569"/>
                </a:solidFill>
              </a:defRPr>
            </a:pPr>
            <a:r>
              <a:t>共識決策 × 階層制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0" y="5166360"/>
            <a:ext cx="1051560" cy="105156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第三象限（左下）</a:t>
            </a:r>
          </a:p>
          <a:p>
            <a:pPr algn="ctr">
              <a:defRPr sz="900">
                <a:solidFill>
                  <a:srgbClr val="475569"/>
                </a:solidFill>
              </a:defRPr>
            </a:pPr>
            <a:r>
              <a:t>由上而下 × 平等主義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5166360"/>
            <a:ext cx="105156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第四象限（右下）</a:t>
            </a:r>
          </a:p>
          <a:p>
            <a:pPr algn="ctr">
              <a:defRPr sz="900">
                <a:solidFill>
                  <a:srgbClr val="475569"/>
                </a:solidFill>
              </a:defRPr>
            </a:pPr>
            <a:r>
              <a:t>由上而下 × 階層制</a:t>
            </a:r>
          </a:p>
        </p:txBody>
      </p:sp>
      <p:sp>
        <p:nvSpPr>
          <p:cNvPr id="10" name="Oval 9"/>
          <p:cNvSpPr/>
          <p:nvPr/>
        </p:nvSpPr>
        <p:spPr>
          <a:xfrm>
            <a:off x="1998878" y="5603443"/>
            <a:ext cx="219456" cy="219456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0" y="1234440"/>
            <a:ext cx="643097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411480"/>
          <a:lstStyle/>
          <a:p>
            <a:pPr algn="ctr">
              <a:defRPr sz="1900" b="1">
                <a:solidFill>
                  <a:srgbClr val="1E293B"/>
                </a:solidFill>
              </a:defRPr>
            </a:pPr>
            <a:r>
              <a:t>文獻理論依據與決策盲點解析</a:t>
            </a:r>
          </a:p>
          <a:p>
            <a:pPr>
              <a:spcBef>
                <a:spcPts val="1800"/>
              </a:spcBef>
              <a:defRPr sz="1600" b="1">
                <a:solidFill>
                  <a:srgbClr val="1E293B"/>
                </a:solidFill>
              </a:defRPr>
            </a:pPr>
            <a:r>
              <a:t>文化特徵：</a:t>
            </a:r>
          </a:p>
          <a:p>
            <a:pPr>
              <a:lnSpc>
                <a:spcPct val="135000"/>
              </a:lnSpc>
              <a:defRPr sz="1300">
                <a:solidFill>
                  <a:srgbClr val="475569"/>
                </a:solidFill>
              </a:defRPr>
            </a:pPr>
            <a:r>
              <a:t>矽谷敏捷試錯模式，組織極度扁平，決策採小寫 d 快速推進與動態修補。</a:t>
            </a:r>
          </a:p>
          <a:p>
            <a:pPr>
              <a:spcBef>
                <a:spcPts val="1800"/>
              </a:spcBef>
              <a:defRPr sz="1600" b="1">
                <a:solidFill>
                  <a:srgbClr val="1E293B"/>
                </a:solidFill>
              </a:defRPr>
            </a:pPr>
            <a:r>
              <a:t>管理盲點：</a:t>
            </a:r>
          </a:p>
          <a:p>
            <a:pPr>
              <a:lnSpc>
                <a:spcPct val="135000"/>
              </a:lnSpc>
              <a:defRPr sz="1300">
                <a:solidFill>
                  <a:srgbClr val="475569"/>
                </a:solidFill>
              </a:defRPr>
            </a:pPr>
            <a:r>
              <a:t>若開馬拉松會議追求完美共識，會被視為官僚、保守且缺乏魄力與市場速度。</a:t>
            </a:r>
          </a:p>
          <a:p>
            <a:pPr>
              <a:spcBef>
                <a:spcPts val="1800"/>
              </a:spcBef>
              <a:defRPr sz="1600" b="1">
                <a:solidFill>
                  <a:srgbClr val="1E293B"/>
                </a:solidFill>
              </a:defRPr>
            </a:pPr>
            <a:r>
              <a:t>正確對策：</a:t>
            </a:r>
          </a:p>
          <a:p>
            <a:pPr>
              <a:lnSpc>
                <a:spcPct val="135000"/>
              </a:lnSpc>
              <a:defRPr sz="1300">
                <a:solidFill>
                  <a:srgbClr val="475569"/>
                </a:solidFill>
              </a:defRPr>
            </a:pPr>
            <a:r>
              <a:t>肯定創新熱情並迅速拍板小規模試跑（如灰度發布），保留後續動態修補彈性。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第四回合 · 情境挑戰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案例四 · 首發登台前兩小時的極限攤牌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" y="1179576"/>
            <a:ext cx="5138928" cy="5138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ase4_del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5029200" cy="5029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89320" y="1234440"/>
            <a:ext cx="5468112" cy="3886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/>
          <a:lstStyle/>
          <a:p>
            <a:pPr algn="ctr">
              <a:defRPr sz="1300" b="1">
                <a:solidFill>
                  <a:srgbClr val="0284C7"/>
                </a:solidFill>
              </a:defRPr>
            </a:pPr>
            <a:r>
              <a:t>📍 全球首發 · 戰略客戶攤牌現場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</a:defRPr>
            </a:pPr>
            <a:r>
              <a:t>【後台突發】</a:t>
            </a:r>
          </a:p>
          <a:p>
            <a:pPr>
              <a:lnSpc>
                <a:spcPct val="125000"/>
              </a:lnSpc>
              <a:defRPr sz="1050">
                <a:solidFill>
                  <a:srgbClr val="475569"/>
                </a:solidFill>
              </a:defRPr>
            </a:pPr>
            <a:r>
              <a:t>全球發表會倒數 02:00:00，最大客戶技術長帶著兩名年輕測試員突然直接走進後台。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</a:defRPr>
            </a:pPr>
            <a:r>
              <a:t>【報告攤牌】</a:t>
            </a:r>
          </a:p>
          <a:p>
            <a:pPr>
              <a:lnSpc>
                <a:spcPct val="125000"/>
              </a:lnSpc>
              <a:defRPr sz="1050">
                <a:solidFill>
                  <a:srgbClr val="475569"/>
                </a:solidFill>
              </a:defRPr>
            </a:pPr>
            <a:r>
              <a:t>啪！測試員將「極端低溫環境訊號衰減報告」拍在桌上！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</a:defRPr>
            </a:pPr>
            <a:r>
              <a:t>【基層聲明】</a:t>
            </a:r>
          </a:p>
          <a:p>
            <a:pPr>
              <a:lnSpc>
                <a:spcPct val="125000"/>
              </a:lnSpc>
              <a:defRPr sz="1050">
                <a:solidFill>
                  <a:srgbClr val="475569"/>
                </a:solidFill>
              </a:defRPr>
            </a:pPr>
            <a:r>
              <a:t>年輕測試員：「在我們團隊裡，每位技術員都有權為安全把關，我們不在乎你的職銜或賠償金。」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</a:defRPr>
            </a:pPr>
            <a:r>
              <a:t>【拒絕妥協】</a:t>
            </a:r>
          </a:p>
          <a:p>
            <a:pPr>
              <a:lnSpc>
                <a:spcPct val="125000"/>
              </a:lnSpc>
              <a:defRPr sz="1050">
                <a:solidFill>
                  <a:srgbClr val="475569"/>
                </a:solidFill>
              </a:defRPr>
            </a:pPr>
            <a:r>
              <a:t>「若非雙方工程師公開透明共同審核並達成一致協議，我們絕不簽署放行同意書！」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5257800"/>
            <a:ext cx="5468112" cy="10058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/>
          <a:lstStyle/>
          <a:p>
            <a:pPr algn="ctr">
              <a:defRPr sz="1200" b="1">
                <a:solidFill>
                  <a:srgbClr val="FEF3C7"/>
                </a:solidFill>
              </a:defRPr>
            </a:pPr>
            <a:r>
              <a:t>⏱️ 決策課題：面對基層擁有完全否決權、堅持透明共審的團隊，你的領導決策座標應落在哪裡？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第四回合 · 答案揭曉與文獻深度解析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案例四 答案揭曉 · 第二象限（左上：橫軸 18，縱軸 85）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4114800" cy="51206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20040"/>
          <a:lstStyle/>
          <a:p>
            <a:pPr algn="ctr">
              <a:defRPr sz="1500" b="1">
                <a:solidFill>
                  <a:srgbClr val="BFDBFE"/>
                </a:solidFill>
              </a:defRPr>
            </a:pPr>
            <a:r>
              <a:t>正確答案（左上）</a:t>
            </a:r>
          </a:p>
          <a:p>
            <a:pPr algn="ctr">
              <a:defRPr sz="3600" b="1">
                <a:solidFill>
                  <a:srgbClr val="FFFFFF"/>
                </a:solidFill>
              </a:defRPr>
            </a:pPr>
            <a:r>
              <a:t>第二象限</a:t>
            </a:r>
          </a:p>
          <a:p>
            <a:pPr algn="ctr">
              <a:defRPr sz="1600" b="1">
                <a:solidFill>
                  <a:srgbClr val="FEF3C7"/>
                </a:solidFill>
              </a:defRPr>
            </a:pPr>
            <a:r>
              <a:t>平等主義 × 共識型決策</a:t>
            </a:r>
          </a:p>
          <a:p>
            <a:pPr algn="ctr"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🎯 靶心座標：(18, 85)</a:t>
            </a:r>
          </a:p>
          <a:p>
            <a:pPr algn="ctr">
              <a:spcBef>
                <a:spcPts val="800"/>
              </a:spcBef>
              <a:defRPr sz="1500" b="1">
                <a:solidFill>
                  <a:srgbClr val="FACC15"/>
                </a:solidFill>
              </a:defRPr>
            </a:pPr>
            <a:r>
              <a:t>選對組別 + 100 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4114800"/>
            <a:ext cx="1051560" cy="10515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第二象限（左上）</a:t>
            </a:r>
          </a:p>
          <a:p>
            <a:pPr algn="ctr">
              <a:defRPr sz="900">
                <a:solidFill>
                  <a:srgbClr val="475569"/>
                </a:solidFill>
              </a:defRPr>
            </a:pPr>
            <a:r>
              <a:t>共識決策 × 平等主義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7480" y="4114800"/>
            <a:ext cx="105156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第一象限（右上）</a:t>
            </a:r>
          </a:p>
          <a:p>
            <a:pPr algn="ctr">
              <a:defRPr sz="900">
                <a:solidFill>
                  <a:srgbClr val="475569"/>
                </a:solidFill>
              </a:defRPr>
            </a:pPr>
            <a:r>
              <a:t>共識決策 × 階層制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0" y="5166360"/>
            <a:ext cx="105156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第三象限（左下）</a:t>
            </a:r>
          </a:p>
          <a:p>
            <a:pPr algn="ctr">
              <a:defRPr sz="900">
                <a:solidFill>
                  <a:srgbClr val="475569"/>
                </a:solidFill>
              </a:defRPr>
            </a:pPr>
            <a:r>
              <a:t>由上而下 × 平等主義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5166360"/>
            <a:ext cx="105156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第四象限（右下）</a:t>
            </a:r>
          </a:p>
          <a:p>
            <a:pPr algn="ctr">
              <a:defRPr sz="900">
                <a:solidFill>
                  <a:srgbClr val="475569"/>
                </a:solidFill>
              </a:defRPr>
            </a:pPr>
            <a:r>
              <a:t>由上而下 × 階層制</a:t>
            </a:r>
          </a:p>
        </p:txBody>
      </p:sp>
      <p:sp>
        <p:nvSpPr>
          <p:cNvPr id="10" name="Oval 9"/>
          <p:cNvSpPr/>
          <p:nvPr/>
        </p:nvSpPr>
        <p:spPr>
          <a:xfrm>
            <a:off x="1914753" y="4320540"/>
            <a:ext cx="219456" cy="219456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0" y="1234440"/>
            <a:ext cx="643097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411480"/>
          <a:lstStyle/>
          <a:p>
            <a:pPr algn="ctr">
              <a:defRPr sz="1900" b="1">
                <a:solidFill>
                  <a:srgbClr val="1E293B"/>
                </a:solidFill>
              </a:defRPr>
            </a:pPr>
            <a:r>
              <a:t>文獻理論依據與決策盲點解析</a:t>
            </a:r>
          </a:p>
          <a:p>
            <a:pPr>
              <a:spcBef>
                <a:spcPts val="1800"/>
              </a:spcBef>
              <a:defRPr sz="1600" b="1">
                <a:solidFill>
                  <a:srgbClr val="1E293B"/>
                </a:solidFill>
              </a:defRPr>
            </a:pPr>
            <a:r>
              <a:t>文化特徵：</a:t>
            </a:r>
          </a:p>
          <a:p>
            <a:pPr>
              <a:lnSpc>
                <a:spcPct val="135000"/>
              </a:lnSpc>
              <a:defRPr sz="1300">
                <a:solidFill>
                  <a:srgbClr val="475569"/>
                </a:solidFill>
              </a:defRPr>
            </a:pPr>
            <a:r>
              <a:t>荷蘭低地協商模式，基層工程師擁有一票否決權，追求刻在石碑上的神聖大承諾。</a:t>
            </a:r>
          </a:p>
          <a:p>
            <a:pPr>
              <a:spcBef>
                <a:spcPts val="1800"/>
              </a:spcBef>
              <a:defRPr sz="1600" b="1">
                <a:solidFill>
                  <a:srgbClr val="1E293B"/>
                </a:solidFill>
              </a:defRPr>
            </a:pPr>
            <a:r>
              <a:t>管理盲點：</a:t>
            </a:r>
          </a:p>
          <a:p>
            <a:pPr>
              <a:lnSpc>
                <a:spcPct val="135000"/>
              </a:lnSpc>
              <a:defRPr sz="1300">
                <a:solidFill>
                  <a:srgbClr val="475569"/>
                </a:solidFill>
              </a:defRPr>
            </a:pPr>
            <a:r>
              <a:t>試圖透過職級施壓或私下利益妥協，會被視為踐踏專業誠信與違背團隊共識。</a:t>
            </a:r>
          </a:p>
          <a:p>
            <a:pPr>
              <a:spcBef>
                <a:spcPts val="1800"/>
              </a:spcBef>
              <a:defRPr sz="1600" b="1">
                <a:solidFill>
                  <a:srgbClr val="1E293B"/>
                </a:solidFill>
              </a:defRPr>
            </a:pPr>
            <a:r>
              <a:t>正確對策：</a:t>
            </a:r>
          </a:p>
          <a:p>
            <a:pPr>
              <a:lnSpc>
                <a:spcPct val="135000"/>
              </a:lnSpc>
              <a:defRPr sz="1300">
                <a:solidFill>
                  <a:srgbClr val="475569"/>
                </a:solidFill>
              </a:defRPr>
            </a:pPr>
            <a:r>
              <a:t>主管轉化為中立協調促進者，召集雙方技術人員公開數據、透明共審，凝聚神聖共識。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跨文化決策全景對照表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跨文化決策全景：四大象限策略對照矩陣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42032" cy="48463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第一象限（右上）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階層制 × 共識型決策</a:t>
            </a:r>
            <a:br/>
          </a:p>
          <a:p>
            <a:pPr>
              <a:defRPr sz="1000">
                <a:solidFill>
                  <a:srgbClr val="475569"/>
                </a:solidFill>
              </a:defRPr>
            </a:pPr>
            <a:r>
              <a:t>【日本、韓國】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• 決策機制：根回與稟議制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• 領導者角色：整合協調者 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• 關鍵動作：大會前私下一對一對齊，由下而上會簽審核。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• 致命地雷：在正式會議強行舉手或當眾表態。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371600"/>
            <a:ext cx="2542032" cy="484632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第二象限（左上）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平等主義 × 共識型決策</a:t>
            </a:r>
            <a:br/>
          </a:p>
          <a:p>
            <a:pPr>
              <a:defRPr sz="1000">
                <a:solidFill>
                  <a:srgbClr val="475569"/>
                </a:solidFill>
              </a:defRPr>
            </a:pPr>
            <a:r>
              <a:t>【荷蘭、北歐各國】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• 決策機制：低地共識協商模式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• 領導者角色：中立促進者 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• 關鍵動作：全員公開透明共審，拍板即刻在石碑上不可翻案。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• 致命地雷：私下密室妥協、威權壓迫或隨意翻案。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371600"/>
            <a:ext cx="2542032" cy="484632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300" b="1">
                <a:solidFill>
                  <a:srgbClr val="059669"/>
                </a:solidFill>
              </a:defRPr>
            </a:pPr>
            <a:r>
              <a:t>第三象限（左下）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平等主義 × 由上而下速決</a:t>
            </a:r>
            <a:br/>
          </a:p>
          <a:p>
            <a:pPr>
              <a:defRPr sz="1000">
                <a:solidFill>
                  <a:srgbClr val="475569"/>
                </a:solidFill>
              </a:defRPr>
            </a:pPr>
            <a:r>
              <a:t>【美國矽谷、英國新創】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• 決策機制：小 d 敏捷試錯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• 領導者角色：方向定舵者 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• 關鍵動作：鼓勵平等暢所欲言，授權主管速決，後續線上動態修補。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• 致命地雷：耗費數週追求全員共識，錯失市場先機。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6256" y="1371600"/>
            <a:ext cx="2542032" cy="484632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300" b="1">
                <a:solidFill>
                  <a:srgbClr val="0284C7"/>
                </a:solidFill>
              </a:defRPr>
            </a:pPr>
            <a:r>
              <a:t>第四象限（右下）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階層制 × 由上而下速決</a:t>
            </a:r>
            <a:br/>
          </a:p>
          <a:p>
            <a:pPr>
              <a:defRPr sz="1000">
                <a:solidFill>
                  <a:srgbClr val="475569"/>
                </a:solidFill>
              </a:defRPr>
            </a:pPr>
            <a:r>
              <a:t>【中國工廠、法國、印度】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• 決策機制：指揮官指揮模式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• 領導者角色：最高指揮官 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• 關鍵動作：危機時給予清晰步驟，領導者一肩承擔全部成敗。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• 致命地雷：危機時要求基層投票表態，被視為推諉懦弱。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決策哲學辨析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核心哲學碰撞：「大承諾」與「小速決」的本質差異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6636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600" b="1">
                <a:solidFill>
                  <a:srgbClr val="4F46E5"/>
                </a:solidFill>
              </a:defRPr>
            </a:pPr>
            <a:r>
              <a:t>🏛️ 大承諾：刻在石碑上的神聖承諾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決策即為終局承諾（日本、德國、荷蘭、北歐各國）</a:t>
            </a:r>
            <a:br/>
          </a:p>
          <a:p>
            <a:pPr>
              <a:defRPr b="1" sz="1200">
                <a:solidFill>
                  <a:srgbClr val="1E293B"/>
                </a:solidFill>
              </a:defRPr>
            </a:pPr>
            <a:r>
              <a:t>• 前期長考凝聚，後期零阻力執行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前期花費大量時間讓所有人表達意見、反覆審核。這個過程可能很慢，但一旦拍板，代表全員簽字背書，後續執行如同高速列車，零阻力達成。</a:t>
            </a:r>
            <a:br/>
          </a:p>
          <a:p>
            <a:pPr>
              <a:defRPr b="1" sz="1200">
                <a:solidFill>
                  <a:srgbClr val="1E293B"/>
                </a:solidFill>
              </a:defRPr>
            </a:pPr>
            <a:r>
              <a:t>• 隨意翻案等同摧毀信任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如果主管隔週拿到新數據隨口說『我們換個方向』，在德國或日本團隊眼裡，這不是敏捷，而是雙面、不誠實、不尊重承諾。</a:t>
            </a:r>
            <a:br/>
          </a:p>
        </p:txBody>
      </p:sp>
      <p:sp>
        <p:nvSpPr>
          <p:cNvPr id="6" name="Rounded Rectangle 5"/>
          <p:cNvSpPr/>
          <p:nvPr/>
        </p:nvSpPr>
        <p:spPr>
          <a:xfrm>
            <a:off x="6291072" y="1371600"/>
            <a:ext cx="516636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600" b="1">
                <a:solidFill>
                  <a:srgbClr val="059669"/>
                </a:solidFill>
              </a:defRPr>
            </a:pPr>
            <a:r>
              <a:t>🚀 小速決：動態迭代的敏捷里程碑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決策即為動態里程碑（新創與敏捷團隊）</a:t>
            </a:r>
            <a:br/>
          </a:p>
          <a:p>
            <a:pPr>
              <a:defRPr b="1" sz="1200">
                <a:solidFill>
                  <a:srgbClr val="1E293B"/>
                </a:solidFill>
              </a:defRPr>
            </a:pPr>
            <a:r>
              <a:t>• 快速拍板試跑，有新數據即刻修正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認為前期花數週追求完美共識是浪費生命。決策只是當下最佳假設，先推上線、從市場反饋學習，有新數據隨時動態調整。</a:t>
            </a:r>
            <a:br/>
          </a:p>
          <a:p>
            <a:pPr>
              <a:defRPr b="1" sz="1200">
                <a:solidFill>
                  <a:srgbClr val="1E293B"/>
                </a:solidFill>
              </a:defRPr>
            </a:pPr>
            <a:r>
              <a:t>• 過度追求共識等同保守官僚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在矽谷文化中，追求每個人都同意只會產出平庸的妥協方案。主管的角色是維持前進速度，而不是讓所有人都滿意。</a:t>
            </a:r>
            <a:br/>
          </a:p>
        </p:txBody>
      </p:sp>
      <p:sp>
        <p:nvSpPr>
          <p:cNvPr id="7" name="Rounded Rectangle 6"/>
          <p:cNvSpPr/>
          <p:nvPr/>
        </p:nvSpPr>
        <p:spPr>
          <a:xfrm>
            <a:off x="731520" y="5440680"/>
            <a:ext cx="10728655" cy="9601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💡 跨國合作解方：導入雙軌宣告協定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跨國管理最大的災難是用同一個詞彙『決策』，雙方卻懷抱完全不同的心理預期！會議結束前，主持人必須明確宣告：這是不可輕易翻案的「大承諾」，還是隨時可調的「小速決」？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領導三大要務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哈佛商業評論 領導三大要務自我檢核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1463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500" b="1">
                <a:solidFill>
                  <a:srgbClr val="D97706"/>
                </a:solidFill>
              </a:defRPr>
            </a:pPr>
            <a:r>
              <a:t>要務一：管理自己 · 放下文化優越感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從「用自己的文化尺規衡量他人」走向「因地制宜切換座標」。認知到文化風格沒有高下之分；領導者的權威不是來自職級或強推個人習慣，而是來自對在地脈絡的精準同理與適應力。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10728655" cy="146304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500" b="1">
                <a:solidFill>
                  <a:srgbClr val="0284C7"/>
                </a:solidFill>
              </a:defRPr>
            </a:pPr>
            <a:r>
              <a:t>要務二：管理網絡 · 建立跨邊界同盟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辨識跨國組織內部的「非正式權力地圖」。在階層制文化中尊重垂直網絡與長幼序位；在平等文化中建立橫向網絡。善用會前「會前私下摸底（根回）」，將潛在抗拒者轉化為協作盟友。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10728655" cy="146304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500" b="1">
                <a:solidFill>
                  <a:srgbClr val="059669"/>
                </a:solidFill>
              </a:defRPr>
            </a:pPr>
            <a:r>
              <a:t>要務三：打造團隊 · 建立多元心理安全感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建立容許不同發言風格的團隊文化常規（團隊合作常規）。為習慣沉默的成員打造非正式一對一表達管道，為敏捷直率的成員規範決策界限，將文化衝突轉化為跨國創新的核心競爭力。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822960"/>
            <a:ext cx="10728655" cy="5212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97706"/>
                </a:solidFill>
              </a:defRPr>
            </a:pPr>
            <a:r>
              <a:t>👑 文化王加冕儀式 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恭喜四輪累計積分最高組別 · 榮獲《年度跨文化領導王》桂冠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743200"/>
            <a:ext cx="9448495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 rIns="365760"/>
          <a:lstStyle/>
          <a:p>
            <a:pPr algn="ctr">
              <a:defRPr sz="1800" b="1">
                <a:solidFill>
                  <a:srgbClr val="FEF3C7"/>
                </a:solidFill>
              </a:defRPr>
            </a:pPr>
            <a:r>
              <a:t>「卓越的跨文化領導者，從不要求世界配合自己的節奏，</a:t>
            </a:r>
            <a:br/>
            <a:r>
              <a:t>而是靈活駕馭光譜，帶領多元團隊跨越邊界、抵達終點。」</a:t>
            </a:r>
          </a:p>
          <a:p>
            <a:pPr algn="r">
              <a:defRPr sz="1200">
                <a:solidFill>
                  <a:srgbClr val="64748B"/>
                </a:solidFill>
              </a:defRPr>
            </a:pPr>
            <a:r>
              <a:t>— 跨文化團隊決策與說服競技場 · 誰是文化王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66344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0F2FE"/>
                </a:solidFill>
              </a:defRPr>
            </a:pPr>
            <a:r>
              <a:t>📊 實體計分結算指南：</a:t>
            </a:r>
          </a:p>
          <a:p>
            <a:pPr>
              <a:defRPr sz="1150">
                <a:solidFill>
                  <a:srgbClr val="E2E8F0"/>
                </a:solidFill>
              </a:defRPr>
            </a:pPr>
            <a:r>
              <a:t>請各組加總四回合累計得分（每輪滿分 100 分，總分 400 分），最高分組別即為本場次文化王！</a:t>
            </a:r>
            <a:br/>
            <a:r>
              <a:t>感謝全體學員的深度思辨與跨文化激盪，帶著今日的座標洞察，回到明天的真實領導對話！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